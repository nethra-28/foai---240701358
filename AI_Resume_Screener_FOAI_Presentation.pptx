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23960" y="0"/>
            <a:ext cx="3364992" cy="1051560"/>
          </a:xfrm>
          <a:prstGeom prst="rect">
            <a:avLst/>
          </a:prstGeom>
          <a:solidFill>
            <a:srgbClr val="24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1051560"/>
            <a:ext cx="2404872" cy="128016"/>
          </a:xfrm>
          <a:prstGeom prst="rect">
            <a:avLst/>
          </a:prstGeom>
          <a:solidFill>
            <a:srgbClr val="1D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52760" y="1179576"/>
            <a:ext cx="1536192" cy="2011680"/>
          </a:xfrm>
          <a:prstGeom prst="rect">
            <a:avLst/>
          </a:prstGeom>
          <a:solidFill>
            <a:srgbClr val="24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23960" y="5440680"/>
            <a:ext cx="3364992" cy="1417320"/>
          </a:xfrm>
          <a:prstGeom prst="rect">
            <a:avLst/>
          </a:prstGeom>
          <a:solidFill>
            <a:srgbClr val="1D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83879" y="5989320"/>
            <a:ext cx="640080" cy="868680"/>
          </a:xfrm>
          <a:prstGeom prst="rect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"/>
            <a:ext cx="6400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A0DBDD"/>
                </a:solidFill>
                <a:latin typeface="Aptos"/>
              </a:defRPr>
            </a:pPr>
            <a:r>
              <a:t>FOUNDATIONS OF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768096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"/>
              </a:defRPr>
            </a:pPr>
            <a:r>
              <a:t>AI RESUME</a:t>
            </a:r>
            <a:br/>
            <a:r>
              <a:t>SCREENER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69494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0">
                <a:solidFill>
                  <a:srgbClr val="D2E0F1"/>
                </a:solidFill>
                <a:latin typeface="Aptos"/>
              </a:defRPr>
            </a:pPr>
            <a:r>
              <a:t>A symbolic-AI approach to structured candidate screening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13632"/>
            <a:ext cx="2423160" cy="411480"/>
          </a:xfrm>
          <a:prstGeom prst="roundRect">
            <a:avLst/>
          </a:prstGeom>
          <a:solidFill>
            <a:srgbClr val="1D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986784"/>
            <a:ext cx="21945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CSP  •  HEURISTIC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6400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A0DBDD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7223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Nethra Chandragandhi T  |  240701357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04688"/>
            <a:ext cx="7223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Nethra G  |  240701358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5486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00" b="0">
                <a:solidFill>
                  <a:srgbClr val="B1C0D4"/>
                </a:solidFill>
                <a:latin typeface="Aptos"/>
              </a:defRPr>
            </a:pPr>
            <a:r>
              <a:t>Constraints • Explainability • Transparent ranking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600" b="1">
                <a:solidFill>
                  <a:srgbClr val="112344"/>
                </a:solidFill>
                <a:latin typeface="Aptos"/>
              </a:defRPr>
            </a:pPr>
            <a:r>
              <a:t>Abstract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960120" cy="50292"/>
          </a:xfrm>
          <a:prstGeom prst="rect">
            <a:avLst/>
          </a:prstGeom>
          <a:solidFill>
            <a:srgbClr val="1D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7632" y="685800"/>
            <a:ext cx="9601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5E6C7D"/>
                </a:solidFill>
                <a:latin typeface="Aptos"/>
              </a:defRPr>
            </a:pPr>
            <a:r>
              <a:t>Why a structured screening assistant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5E6C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07008"/>
            <a:ext cx="5440680" cy="4526280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48463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2468AB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00600" cy="3474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32F3E"/>
                </a:solidFill>
                <a:latin typeface="Aptos"/>
              </a:defRPr>
            </a:pPr>
            <a:r>
              <a:t>Recruiters may receive many resumes for one vacancy. Manual review can be slow and inconsistent, while basic keyword filters may miss important qualifications or provide little explanation for a decision.</a:t>
            </a:r>
            <a:br/>
            <a:br/>
            <a:r>
              <a:t>The project aims to screen candidate information against explicit job requirements, identify which mandatory criteria are met, explain failed requirements, and rank eligible candidates using a transparent rule-based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207008"/>
            <a:ext cx="5394960" cy="4526280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C4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481328"/>
            <a:ext cx="47548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D9D9B"/>
                </a:solidFill>
                <a:latin typeface="Aptos"/>
              </a:defRPr>
            </a:pPr>
            <a:r>
              <a:t>PROPOSED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65960"/>
            <a:ext cx="4709160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Enter resume details and job criteria.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Represent mandatory requirements as constraints (CSP).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Use constraint propagation to stop checks when a hard requirement fails.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Apply sequential constraint checks inspired by backtracking.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Rank eligible candidates using a manually designed heuristic score.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6188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112344"/>
                </a:solidFill>
                <a:latin typeface="Aptos"/>
              </a:defRPr>
            </a:pPr>
            <a:r>
              <a:t>Scope: symbolic / rule-based AI — no machine learning or deep learning model is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600" b="1">
                <a:solidFill>
                  <a:srgbClr val="112344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960120" cy="50292"/>
          </a:xfrm>
          <a:prstGeom prst="rect">
            <a:avLst/>
          </a:prstGeom>
          <a:solidFill>
            <a:srgbClr val="1D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7632" y="685800"/>
            <a:ext cx="9601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5E6C7D"/>
                </a:solidFill>
                <a:latin typeface="Aptos"/>
              </a:defRPr>
            </a:pPr>
            <a:r>
              <a:t>Recent research on screening, fairness and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5E6C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40680" cy="1444752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252728"/>
            <a:ext cx="3474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1D9D9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16152"/>
            <a:ext cx="473659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1">
                <a:solidFill>
                  <a:srgbClr val="112344"/>
                </a:solidFill>
                <a:latin typeface="Aptos"/>
              </a:defRPr>
            </a:pPr>
            <a:r>
              <a:t>Wilson, K. &amp; Caliskan, A. (2024). “Gender, Race, and Intersectional Bias in Resume Screening via Language Model Retrieval.” Proceedings of the AAAI/ACM Conference on AI, Ethics, and Society, 7(1), 1578–1590. DOI: 10.1609/aies.v7i1.31748.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0552"/>
            <a:ext cx="47091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0">
                <a:solidFill>
                  <a:srgbClr val="5E6C7D"/>
                </a:solidFill>
                <a:latin typeface="Aptos"/>
              </a:defRPr>
            </a:pPr>
            <a:r>
              <a:t>Reports demographic disparities in resume retrieval; motivates explicit and auditable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440680" cy="1444752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C4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252728"/>
            <a:ext cx="3474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1D9D9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216152"/>
            <a:ext cx="473659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1">
                <a:solidFill>
                  <a:srgbClr val="112344"/>
                </a:solidFill>
                <a:latin typeface="Aptos"/>
              </a:defRPr>
            </a:pPr>
            <a:r>
              <a:t>Ochmann, J. et al. (2024). “Perceived algorithmic fairness: An empirical study of transparency and anthropomorphism in algorithmic recruiting.” Information Systems Journal, 34(2), 384–414. DOI: 10.1111/isj.12482.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30552"/>
            <a:ext cx="47091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0">
                <a:solidFill>
                  <a:srgbClr val="5E6C7D"/>
                </a:solidFill>
                <a:latin typeface="Aptos"/>
              </a:defRPr>
            </a:pPr>
            <a:r>
              <a:t>Studies how transparency shapes perceived fairness in algorithmic recruiting.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5440680" cy="1444752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2898648"/>
            <a:ext cx="3474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1D9D9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62072"/>
            <a:ext cx="473659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1">
                <a:solidFill>
                  <a:srgbClr val="112344"/>
                </a:solidFill>
                <a:latin typeface="Aptos"/>
              </a:defRPr>
            </a:pPr>
            <a:r>
              <a:t>“Fairness, AI &amp; recruitment.” (2024). Computer Law &amp; Security Review, 53, 105966. DOI: 10.1016/j.clsr.2024.105966.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76472"/>
            <a:ext cx="47091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0">
                <a:solidFill>
                  <a:srgbClr val="5E6C7D"/>
                </a:solidFill>
                <a:latin typeface="Aptos"/>
              </a:defRPr>
            </a:pPr>
            <a:r>
              <a:t>Discusses fairness, accountability and discrimination risks in AI recruitment.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88920"/>
            <a:ext cx="5440680" cy="1444752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C4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898648"/>
            <a:ext cx="3474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1D9D9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862072"/>
            <a:ext cx="473659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1">
                <a:solidFill>
                  <a:srgbClr val="112344"/>
                </a:solidFill>
                <a:latin typeface="Aptos"/>
              </a:defRPr>
            </a:pPr>
            <a:r>
              <a:t>An, J. et al. (2025). “Measuring gender and racial biases in large language models: Intersectional evidence from automated resume evaluation.” PNAS Nexus, 4(3), pgaf089. DOI: 10.1093/pnasnexus/pgaf089.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776472"/>
            <a:ext cx="47091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0">
                <a:solidFill>
                  <a:srgbClr val="5E6C7D"/>
                </a:solidFill>
                <a:latin typeface="Aptos"/>
              </a:defRPr>
            </a:pPr>
            <a:r>
              <a:t>Audits resume scores across randomized identities and reports intersectional differences.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34840"/>
            <a:ext cx="5440680" cy="1444752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4544568"/>
            <a:ext cx="3474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1D9D9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07992"/>
            <a:ext cx="473659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1">
                <a:solidFill>
                  <a:srgbClr val="112344"/>
                </a:solidFill>
                <a:latin typeface="Aptos"/>
              </a:defRPr>
            </a:pPr>
            <a:r>
              <a:t>Chen, A., Han, F., Zhang, X. &amp; Lu, Y. (2025). “Cracking the AI recruitment code: Striving for transparency in finding the right person–job fit.” Information &amp; Management, 62(5), 104156. DOI: 10.1016/j.im.2025.104156.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22392"/>
            <a:ext cx="47091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0">
                <a:solidFill>
                  <a:srgbClr val="5E6C7D"/>
                </a:solidFill>
                <a:latin typeface="Aptos"/>
              </a:defRPr>
            </a:pPr>
            <a:r>
              <a:t>Finds transparency can reduce perceived differences between AI and human job-fit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434840"/>
            <a:ext cx="5440680" cy="1444752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C4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544568"/>
            <a:ext cx="34747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1">
                <a:solidFill>
                  <a:srgbClr val="1D9D9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507992"/>
            <a:ext cx="473659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1">
                <a:solidFill>
                  <a:srgbClr val="112344"/>
                </a:solidFill>
                <a:latin typeface="Aptos"/>
              </a:defRPr>
            </a:pPr>
            <a:r>
              <a:t>Shah, K., Rana, M. &amp; Pimple, T. (2025). “Fair and Transparent AI-Driven Resume Screening: Enhancing Recruitment with Bias-Aware Machine Learning.” South Eastern European Journal of Public Health. DOI: 10.70135/seejph.vi.4674.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422392"/>
            <a:ext cx="47091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0">
                <a:solidFill>
                  <a:srgbClr val="5E6C7D"/>
                </a:solidFill>
                <a:latin typeface="Aptos"/>
              </a:defRPr>
            </a:pPr>
            <a:r>
              <a:t>Proposes automated screening and bias-aware evaluation; useful as a comparison to a symbolic-AI design.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1447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950" b="0">
                <a:solidFill>
                  <a:srgbClr val="5E6C7D"/>
                </a:solidFill>
                <a:latin typeface="Aptos"/>
              </a:defRPr>
            </a:pPr>
            <a:r>
              <a:t>Note: These studies examine AI/ML/LLM systems; they are reviewed for context. This project itself uses symbolic AI, not ML/DL.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600" b="1">
                <a:solidFill>
                  <a:srgbClr val="112344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960120" cy="50292"/>
          </a:xfrm>
          <a:prstGeom prst="rect">
            <a:avLst/>
          </a:prstGeom>
          <a:solidFill>
            <a:srgbClr val="1D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7632" y="685800"/>
            <a:ext cx="9601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5E6C7D"/>
                </a:solidFill>
                <a:latin typeface="Aptos"/>
              </a:defRPr>
            </a:pPr>
            <a:r>
              <a:t>Block diagram of the proposed symbolic-AI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5E6C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057400" cy="868680"/>
          </a:xfrm>
          <a:prstGeom prst="roundRect">
            <a:avLst/>
          </a:prstGeom>
          <a:solidFill>
            <a:srgbClr val="E1EEFA"/>
          </a:solidFill>
          <a:ln w="12700">
            <a:solidFill>
              <a:srgbClr val="24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192938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019" b="1">
                <a:solidFill>
                  <a:srgbClr val="2468AB"/>
                </a:solidFill>
                <a:latin typeface="Aptos"/>
              </a:defRPr>
            </a:pPr>
            <a:r>
              <a:t>1.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37360"/>
            <a:ext cx="1911095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940" b="0">
                <a:solidFill>
                  <a:srgbClr val="232F3E"/>
                </a:solidFill>
                <a:latin typeface="Aptos"/>
              </a:defRPr>
            </a:pPr>
            <a:r>
              <a:t>Resume + job criteria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371600"/>
            <a:ext cx="2057400" cy="868680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24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463040"/>
            <a:ext cx="192938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019" b="1">
                <a:solidFill>
                  <a:srgbClr val="2468AB"/>
                </a:solidFill>
                <a:latin typeface="Aptos"/>
              </a:defRPr>
            </a:pPr>
            <a:r>
              <a:t>2. PARSE / 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1737360"/>
            <a:ext cx="1911095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940" b="0">
                <a:solidFill>
                  <a:srgbClr val="232F3E"/>
                </a:solidFill>
                <a:latin typeface="Aptos"/>
              </a:defRPr>
            </a:pPr>
            <a:r>
              <a:t>Skills, education,</a:t>
            </a:r>
            <a:br/>
            <a:r>
              <a:t>CGPA,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371600"/>
            <a:ext cx="2057400" cy="868680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1D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1463040"/>
            <a:ext cx="192938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019" b="1">
                <a:solidFill>
                  <a:srgbClr val="1D9D9B"/>
                </a:solidFill>
                <a:latin typeface="Aptos"/>
              </a:defRPr>
            </a:pPr>
            <a:r>
              <a:t>3. CSP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737360"/>
            <a:ext cx="1911095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940" b="0">
                <a:solidFill>
                  <a:srgbClr val="232F3E"/>
                </a:solidFill>
                <a:latin typeface="Aptos"/>
              </a:defRPr>
            </a:pPr>
            <a:r>
              <a:t>Mandatory criteria</a:t>
            </a:r>
            <a:br/>
            <a:r>
              <a:t>as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371600"/>
            <a:ext cx="2057400" cy="868680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1D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1463040"/>
            <a:ext cx="192938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019" b="1">
                <a:solidFill>
                  <a:srgbClr val="1D9D9B"/>
                </a:solidFill>
                <a:latin typeface="Aptos"/>
              </a:defRPr>
            </a:pPr>
            <a:r>
              <a:t>4. CONSTRAINT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1737360"/>
            <a:ext cx="1911095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940" b="0">
                <a:solidFill>
                  <a:srgbClr val="232F3E"/>
                </a:solidFill>
                <a:latin typeface="Aptos"/>
              </a:defRPr>
            </a:pPr>
            <a:r>
              <a:t>Propagation + sequential</a:t>
            </a:r>
            <a:br/>
            <a:r>
              <a:t>constraint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12680" y="1371600"/>
            <a:ext cx="1691640" cy="868680"/>
          </a:xfrm>
          <a:prstGeom prst="roundRect">
            <a:avLst/>
          </a:prstGeom>
          <a:solidFill>
            <a:srgbClr val="E1EEFA"/>
          </a:solidFill>
          <a:ln w="12700">
            <a:solidFill>
              <a:srgbClr val="24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6688" y="1463040"/>
            <a:ext cx="156362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019" b="1">
                <a:solidFill>
                  <a:srgbClr val="2468AB"/>
                </a:solidFill>
                <a:latin typeface="Aptos"/>
              </a:defRPr>
            </a:pPr>
            <a:r>
              <a:t>5. ELIGIBILITY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1737360"/>
            <a:ext cx="1545336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940" b="0">
                <a:solidFill>
                  <a:srgbClr val="232F3E"/>
                </a:solidFill>
                <a:latin typeface="Aptos"/>
              </a:defRPr>
            </a:pPr>
            <a:r>
              <a:t>Pass / fail + reasons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3657600"/>
            <a:ext cx="2057400" cy="868680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1D9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44368" y="3749039"/>
            <a:ext cx="192938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019" b="1">
                <a:solidFill>
                  <a:srgbClr val="1D9D9B"/>
                </a:solidFill>
                <a:latin typeface="Aptos"/>
              </a:defRPr>
            </a:pPr>
            <a:r>
              <a:t>6. HEURISTIC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4023360"/>
            <a:ext cx="1911095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940" b="0">
                <a:solidFill>
                  <a:srgbClr val="232F3E"/>
                </a:solidFill>
                <a:latin typeface="Aptos"/>
              </a:defRPr>
            </a:pPr>
            <a:r>
              <a:t>Skills 50 • Preferred 20</a:t>
            </a:r>
            <a:br/>
            <a:r>
              <a:t>Education 15 • CGPA 10 • Exp.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657600"/>
            <a:ext cx="2057400" cy="868680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24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0408" y="3749039"/>
            <a:ext cx="192938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019" b="1">
                <a:solidFill>
                  <a:srgbClr val="2468AB"/>
                </a:solidFill>
                <a:latin typeface="Aptos"/>
              </a:defRPr>
            </a:pPr>
            <a:r>
              <a:t>7. BEST-FIRST 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4023360"/>
            <a:ext cx="1911095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940" b="0">
                <a:solidFill>
                  <a:srgbClr val="232F3E"/>
                </a:solidFill>
                <a:latin typeface="Aptos"/>
              </a:defRPr>
            </a:pPr>
            <a:r>
              <a:t>Order eligible candidates</a:t>
            </a:r>
            <a:br/>
            <a:r>
              <a:t>by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657600"/>
            <a:ext cx="2057400" cy="868680"/>
          </a:xfrm>
          <a:prstGeom prst="roundRect">
            <a:avLst/>
          </a:prstGeom>
          <a:solidFill>
            <a:srgbClr val="E1EEFA"/>
          </a:solidFill>
          <a:ln w="12700">
            <a:solidFill>
              <a:srgbClr val="24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3749039"/>
            <a:ext cx="1929384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019" b="1">
                <a:solidFill>
                  <a:srgbClr val="2468AB"/>
                </a:solidFill>
                <a:latin typeface="Aptos"/>
              </a:defRPr>
            </a:pPr>
            <a:r>
              <a:t>8.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4023360"/>
            <a:ext cx="1911095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940" b="0">
                <a:solidFill>
                  <a:srgbClr val="232F3E"/>
                </a:solidFill>
                <a:latin typeface="Aptos"/>
              </a:defRPr>
            </a:pPr>
            <a:r>
              <a:t>Ranked list + explanation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60320" y="1801368"/>
            <a:ext cx="320040" cy="0"/>
          </a:xfrm>
          <a:prstGeom prst="line">
            <a:avLst/>
          </a:prstGeom>
          <a:ln w="25400">
            <a:solidFill>
              <a:srgbClr val="2468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37760" y="1801368"/>
            <a:ext cx="320040" cy="0"/>
          </a:xfrm>
          <a:prstGeom prst="line">
            <a:avLst/>
          </a:prstGeom>
          <a:ln w="25400">
            <a:solidFill>
              <a:srgbClr val="2468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15200" y="1801368"/>
            <a:ext cx="320040" cy="0"/>
          </a:xfrm>
          <a:prstGeom prst="line">
            <a:avLst/>
          </a:prstGeom>
          <a:ln w="25400">
            <a:solidFill>
              <a:srgbClr val="2468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692640" y="1801368"/>
            <a:ext cx="320040" cy="0"/>
          </a:xfrm>
          <a:prstGeom prst="line">
            <a:avLst/>
          </a:prstGeom>
          <a:ln w="25400">
            <a:solidFill>
              <a:srgbClr val="2468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835640" y="2240280"/>
            <a:ext cx="0" cy="612648"/>
          </a:xfrm>
          <a:prstGeom prst="line">
            <a:avLst/>
          </a:prstGeom>
          <a:ln w="25400">
            <a:solidFill>
              <a:srgbClr val="1D9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913632" y="2852928"/>
            <a:ext cx="6922008" cy="0"/>
          </a:xfrm>
          <a:prstGeom prst="line">
            <a:avLst/>
          </a:prstGeom>
          <a:ln w="25400">
            <a:solidFill>
              <a:srgbClr val="1D9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913632" y="2852928"/>
            <a:ext cx="0" cy="804672"/>
          </a:xfrm>
          <a:prstGeom prst="line">
            <a:avLst/>
          </a:prstGeom>
          <a:ln w="25400">
            <a:solidFill>
              <a:srgbClr val="1D9D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937760" y="4087368"/>
            <a:ext cx="548640" cy="0"/>
          </a:xfrm>
          <a:prstGeom prst="line">
            <a:avLst/>
          </a:prstGeom>
          <a:ln w="25400">
            <a:solidFill>
              <a:srgbClr val="2468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43800" y="4087368"/>
            <a:ext cx="548640" cy="0"/>
          </a:xfrm>
          <a:prstGeom prst="line">
            <a:avLst/>
          </a:prstGeom>
          <a:ln w="25400">
            <a:solidFill>
              <a:srgbClr val="2468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40080" y="4983480"/>
            <a:ext cx="10927080" cy="8229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157216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112344"/>
                </a:solidFill>
                <a:latin typeface="Aptos"/>
              </a:defRPr>
            </a:pPr>
            <a:r>
              <a:t>Hard constraints determine eligibility first; heuristic scores rank only candidates who pass.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100" b="0">
                <a:solidFill>
                  <a:srgbClr val="5E6C7D"/>
                </a:solidFill>
                <a:latin typeface="Aptos"/>
              </a:defRPr>
            </a:pPr>
            <a:r>
              <a:t>Human review remains essential: the system supports shortlisting and does not make the final hiring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600" b="1">
                <a:solidFill>
                  <a:srgbClr val="112344"/>
                </a:solidFill>
                <a:latin typeface="Aptos"/>
              </a:defRPr>
            </a:pPr>
            <a:r>
              <a:t>Conclusion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960120" cy="50292"/>
          </a:xfrm>
          <a:prstGeom prst="rect">
            <a:avLst/>
          </a:prstGeom>
          <a:solidFill>
            <a:srgbClr val="1D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7632" y="685800"/>
            <a:ext cx="9601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5E6C7D"/>
                </a:solidFill>
                <a:latin typeface="Aptos"/>
              </a:defRPr>
            </a:pPr>
            <a:r>
              <a:t>A transparent, explainable baseline for resume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5E6C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303520" cy="4526280"/>
          </a:xfrm>
          <a:prstGeom prst="roundRect">
            <a:avLst/>
          </a:prstGeom>
          <a:solidFill>
            <a:srgbClr val="EFF6FC"/>
          </a:solidFill>
          <a:ln w="12700"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1">
                <a:solidFill>
                  <a:srgbClr val="2468A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84831"/>
            <a:ext cx="4572000" cy="3337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450">
                <a:solidFill>
                  <a:srgbClr val="232F3E"/>
                </a:solidFill>
                <a:latin typeface="Aptos"/>
              </a:defRPr>
            </a:pPr>
            <a:r>
              <a:t>•  Represents job requirements as explicit constraints.</a:t>
            </a:r>
          </a:p>
          <a:p>
            <a:pPr>
              <a:spcAft>
                <a:spcPts val="1100"/>
              </a:spcAft>
              <a:defRPr sz="1450">
                <a:solidFill>
                  <a:srgbClr val="232F3E"/>
                </a:solidFill>
                <a:latin typeface="Aptos"/>
              </a:defRPr>
            </a:pPr>
            <a:r>
              <a:t>•  Uses constraint propagation and sequential checks to identify hard-constraint failures early.</a:t>
            </a:r>
          </a:p>
          <a:p>
            <a:pPr>
              <a:spcAft>
                <a:spcPts val="1100"/>
              </a:spcAft>
              <a:defRPr sz="1450">
                <a:solidFill>
                  <a:srgbClr val="232F3E"/>
                </a:solidFill>
                <a:latin typeface="Aptos"/>
              </a:defRPr>
            </a:pPr>
            <a:r>
              <a:t>•  Applies a weighted heuristic to rank eligible candidates.</a:t>
            </a:r>
          </a:p>
          <a:p>
            <a:pPr>
              <a:spcAft>
                <a:spcPts val="1100"/>
              </a:spcAft>
              <a:defRPr sz="1450">
                <a:solidFill>
                  <a:srgbClr val="232F3E"/>
                </a:solidFill>
                <a:latin typeface="Aptos"/>
              </a:defRPr>
            </a:pPr>
            <a:r>
              <a:t>•  Provides understandable reasons for eligibility and ranking.</a:t>
            </a:r>
          </a:p>
          <a:p>
            <a:pPr>
              <a:spcAft>
                <a:spcPts val="1100"/>
              </a:spcAft>
              <a:defRPr sz="1450">
                <a:solidFill>
                  <a:srgbClr val="232F3E"/>
                </a:solidFill>
                <a:latin typeface="Aptos"/>
              </a:defRPr>
            </a:pPr>
            <a:r>
              <a:t>•  Uses symbolic AI techniques only; no ML/DL training is involved.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303520" cy="4526280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C4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572768"/>
            <a:ext cx="4572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1">
                <a:solidFill>
                  <a:srgbClr val="1D9D9B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84831"/>
            <a:ext cx="4572000" cy="3337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450">
                <a:solidFill>
                  <a:srgbClr val="232F3E"/>
                </a:solidFill>
                <a:latin typeface="Aptos"/>
              </a:defRPr>
            </a:pPr>
            <a:r>
              <a:t>•  Improve resume text extraction and support additional file formats.</a:t>
            </a:r>
          </a:p>
          <a:p>
            <a:pPr>
              <a:spcAft>
                <a:spcPts val="1100"/>
              </a:spcAft>
              <a:defRPr sz="1450">
                <a:solidFill>
                  <a:srgbClr val="232F3E"/>
                </a:solidFill>
                <a:latin typeface="Aptos"/>
              </a:defRPr>
            </a:pPr>
            <a:r>
              <a:t>•  Let recruiters configure job-specific constraints and score weights.</a:t>
            </a:r>
          </a:p>
          <a:p>
            <a:pPr>
              <a:spcAft>
                <a:spcPts val="1100"/>
              </a:spcAft>
              <a:defRPr sz="1450">
                <a:solidFill>
                  <a:srgbClr val="232F3E"/>
                </a:solidFill>
                <a:latin typeface="Aptos"/>
              </a:defRPr>
            </a:pPr>
            <a:r>
              <a:t>•  Add anonymized screening and bias-audit reports.</a:t>
            </a:r>
          </a:p>
          <a:p>
            <a:pPr>
              <a:spcAft>
                <a:spcPts val="1100"/>
              </a:spcAft>
              <a:defRPr sz="1450">
                <a:solidFill>
                  <a:srgbClr val="232F3E"/>
                </a:solidFill>
                <a:latin typeface="Aptos"/>
              </a:defRPr>
            </a:pPr>
            <a:r>
              <a:t>•  Evaluate consistency using diverse, consented sample resumes.</a:t>
            </a:r>
          </a:p>
          <a:p>
            <a:pPr>
              <a:spcAft>
                <a:spcPts val="1100"/>
              </a:spcAft>
              <a:defRPr sz="1450">
                <a:solidFill>
                  <a:srgbClr val="232F3E"/>
                </a:solidFill>
                <a:latin typeface="Aptos"/>
              </a:defRPr>
            </a:pPr>
            <a:r>
              <a:t>•  Add recruiter feedback, audit logs and stronger data protection.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800" b="1">
                <a:solidFill>
                  <a:srgbClr val="112344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