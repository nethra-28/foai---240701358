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4730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symbolic-AI resume screener that treats mandatory job requirements as constraints (CSP) and ranks eligible candidates with a weighted heuristic score. No machine learning 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manual screening is slow, keyword filters are opaque. Our solution: CSP for mandatory criteria, constraint propagation for early rejection, heuristic score for ranking. Symbolic AI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 left to right. Stage 4 is the CSP check using constraint propagation and backtracking; stage 6 is BFS over the candidate queue; stage 7 is the weighted heuristic ranking. Edit the technology stack to match your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 prepares data, Module 2 decides eligibility using constraints with backtracking, Module 3 uses BFS to explore candidates and ranks the eligible ones with the weighted heuristic.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flow: enter job criteria, add a candidate who passes and one who fails, show the ranked list and the rejection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explainable baseline. Limitations: depends on correct input, rule weights are manually chosen, human review is essential.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7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514350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82296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502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ARTIFICIAL INTELLIGENCE  |  PROJECT REVIEW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AI-Based Resume Screener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5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candidate screening using CSP with backtracking, BFS and heuristic scoring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29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NETHRA CHANDRAGANDHI T       240701357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NETHRA </a:t>
            </a: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                                       240701358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5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Mrs. </a:t>
            </a:r>
            <a:r>
              <a:rPr lang="en-US" sz="1100" i="1" dirty="0" err="1">
                <a:solidFill>
                  <a:srgbClr val="D5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B.Deepa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1371600"/>
            <a:ext cx="2743200" cy="548640"/>
          </a:xfrm>
          <a:prstGeom prst="roundRect">
            <a:avLst>
              <a:gd name="adj" fmla="val 20000"/>
            </a:avLst>
          </a:prstGeom>
          <a:solidFill>
            <a:srgbClr val="8FB8BF"/>
          </a:solidFill>
          <a:ln w="12700">
            <a:solidFill>
              <a:srgbClr val="8FB8B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89320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in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1901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355080" y="2084832"/>
            <a:ext cx="2011680" cy="548640"/>
          </a:xfrm>
          <a:prstGeom prst="roundRect">
            <a:avLst>
              <a:gd name="adj" fmla="val 20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20848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constraint filter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26151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20840" y="2798064"/>
            <a:ext cx="1280160" cy="548640"/>
          </a:xfrm>
          <a:prstGeom prst="roundRect">
            <a:avLst>
              <a:gd name="adj" fmla="val 20000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20840" y="279806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shortlist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98932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50S + 20P + 15E + 10C + 5X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candidates are filtered out with reasons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182880" cy="6400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Abstract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640080" cy="45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274320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27432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Resume Screener  |  Foundations of AI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005840"/>
            <a:ext cx="3291840" cy="2560320"/>
          </a:xfrm>
          <a:prstGeom prst="roundRect">
            <a:avLst>
              <a:gd name="adj" fmla="val 357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1155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389888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receive many resumes for one vacancy; manual review is slow and inconsistent.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keyword filters miss qualifications and give no explanation for rejection.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ranking tools are hard to audit for fairness.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F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check mandatory criteria, explain every failure, and rank eligible candidates transparently.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1005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128016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AI-Based Resume Screener compares candidate details (skills, education, CGPA, experience) against explicit job requirements. Mandatory requirements are modelled as constraints in a Constraint Satisfaction Problem (CSP). Constraint propagation stops the checks as soon as a hard requirement fails, and backtracking search tries the constraints one by one, undoing a step when it fails and recording which constraint failed. Breadth-First Search (BFS) then explores the candidates level by level through a queue, and those who pass are ranked by a manually designed weighted heuristic score. The system is rule-based (symbolic AI): no machine learning is used, so every decision can be explained.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886200"/>
            <a:ext cx="54864" cy="5943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types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0" y="37490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3886200"/>
            <a:ext cx="54864" cy="5943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61488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2761488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heuristic score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37490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3886200"/>
            <a:ext cx="54864" cy="5943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18888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4818888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75120" y="37490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0" y="3886200"/>
            <a:ext cx="54864" cy="5943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76288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6876288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used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182880" cy="6400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Survey (1/2)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640080" cy="45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274320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27432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Resume Screener  |  Foundations of AI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8183880" cy="27381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(title · authors · venue)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Advantages (+)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 (−)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our project overcomes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 Gender, Race, and Intersectional Bias in Resume Screening via Language Model Retrieval — K. Wilson, A. Caliskan, AIES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of LLM-based resume retrieval using resumes with varied names and identities.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Tested retrieval systems on a large set of resumes and job descriptions to measure demographic disparity.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bias in AI screening with real evidence; motivates audits.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Black-box embeddings; cause of bias is hard to trace; no explanations.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explicit, auditable constraints and fixed weights; no name or demographic feature is used.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[2] Perceived algorithmic fairness: transparency and anthropomorphism in algorithmic recruiting — J. Ochmann et al., Information Systems Journal,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Empirical (survey/experiment) study of how transparency affects perceived fairness.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Participants evaluated algorithmic recruiting scenarios with varied transparency.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transparency improves perceived fairness.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Studies perception only; no screening system is built.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 the transparency in: shows passed/failed constraints and score breakdown.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 Fairness, AI &amp; recruitment — Computer Law &amp; Security Review, 53,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and ethical analysis of fairness and discrimination in AI recruitment.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Conceptual review of regulation and accountability.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view of discrimination and accountability risks.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technical implementation or evaluation.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decisions are reproducible; human review makes the final decision.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182880" cy="6400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Survey (2/2)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640080" cy="45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274320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27432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Resume Screener  |  Foundations of AI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8183880" cy="26009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(title · authors · venue)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Advantages (+)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 (−)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our project overcomes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[4] Measuring gender and racial biases in LLMs: intersectional evidence from automated resume evaluation — J. An et al., PNAS Nexus,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Scores resumes with LLMs under randomised identities and compares results across groups.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across multiple identities and occupations.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Reveals intersectional biases at scale.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audits; offers no fairer alternative; LLM outputs vary.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scoring: same input always gives same result.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[5] Cracking the AI recruitment code: transparency in person–job fit — A. Chen, F. Han, X. Zhang, Y. Lu, Information &amp; Management,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Studies how transparency in AI job-fit assessment affects trust and comparison with humans.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Empirical study of AI vs human person–job fit assessments.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 narrows the gap between AI and human assessments.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Focuses on perception; model internals not simplified for small systems.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verdict has a reason (which constraint failed or how the score was formed).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[6] Fair and Transparent AI-Driven Resume Screening: Bias-Aware ML — K. Shah, M. Rana, T. Pimple, SEEJPH,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Bias-aware machine-learning model for automated screening.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pipeline with fairness-aware evaluation of resume ranking.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Automates screening and considers fairness.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training data; ML decisions harder to explain.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training data needed; symbolic CSP + heuristic is simple and explainable.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182880" cy="6400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&amp; Working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640080" cy="45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274320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27432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Resume Screener  |  Foundations of AI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14984" y="1188720"/>
            <a:ext cx="7168896" cy="27432"/>
          </a:xfrm>
          <a:prstGeom prst="rect">
            <a:avLst/>
          </a:prstGeom>
          <a:solidFill>
            <a:srgbClr val="A9C9CE"/>
          </a:solidFill>
          <a:ln w="12700">
            <a:solidFill>
              <a:srgbClr val="A9C9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" y="1024128"/>
            <a:ext cx="365760" cy="365760"/>
          </a:xfrm>
          <a:prstGeom prst="ellipse">
            <a:avLst/>
          </a:prstGeom>
          <a:solidFill>
            <a:srgbClr val="0B3C4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444752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+ job criteria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56232" y="1024128"/>
            <a:ext cx="365760" cy="365760"/>
          </a:xfrm>
          <a:prstGeom prst="ellipse">
            <a:avLst/>
          </a:prstGeom>
          <a:solidFill>
            <a:srgbClr val="0B3C4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56232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1444752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fields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80360" y="1024128"/>
            <a:ext cx="365760" cy="365760"/>
          </a:xfrm>
          <a:prstGeom prst="ellipse">
            <a:avLst/>
          </a:prstGeom>
          <a:solidFill>
            <a:srgbClr val="0B3C4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80360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578608" y="1444752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model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as constraints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04488" y="1024128"/>
            <a:ext cx="365760" cy="36576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04488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602736" y="1444752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check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+ backtrack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28616" y="1024128"/>
            <a:ext cx="365760" cy="365760"/>
          </a:xfrm>
          <a:prstGeom prst="ellipse">
            <a:avLst/>
          </a:prstGeom>
          <a:solidFill>
            <a:srgbClr val="0B3C4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28616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1444752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+ reasons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52744" y="1024128"/>
            <a:ext cx="365760" cy="36576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52744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650992" y="1444752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search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queue, level by level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76872" y="1024128"/>
            <a:ext cx="365760" cy="365760"/>
          </a:xfrm>
          <a:prstGeom prst="ellipse">
            <a:avLst/>
          </a:prstGeom>
          <a:solidFill>
            <a:srgbClr val="0B3C4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76872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675120" y="1444752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rank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weighted, out of 100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001000" y="1024128"/>
            <a:ext cx="365760" cy="365760"/>
          </a:xfrm>
          <a:prstGeom prst="ellipse">
            <a:avLst/>
          </a:prstGeom>
          <a:solidFill>
            <a:srgbClr val="0B3C4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01000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699248" y="1444752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list + reasons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2057400"/>
            <a:ext cx="8183880" cy="310896"/>
          </a:xfrm>
          <a:prstGeom prst="roundRect">
            <a:avLst>
              <a:gd name="adj" fmla="val 50000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2920" y="2057400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 decide eligibility first; the score ranks only candidates who pass. Human review makes the final hiring decision.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2514600"/>
            <a:ext cx="27889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2633472"/>
            <a:ext cx="32004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" y="270662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CSP formulation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3017520"/>
            <a:ext cx="2514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attributes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degree, CGPA, years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skills, min. education, min. CGPA, min. experience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(CSP) + BFS (candidates)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failure rejects the candidate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50S + 20P + 15E + 10C + 5X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29000" y="2514600"/>
            <a:ext cx="27889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66160" y="2633472"/>
            <a:ext cx="32004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566160" y="270662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(illustrative)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566160" y="3017520"/>
            <a:ext cx="2514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SQL, CGPA ≥ 7.0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 6.4 → fails, backtrack and reject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B: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constraints pass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50 + Preferred 10 + Edu 15 + CGPA 8 + Exp 3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/ 100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ranked, A rejected with reason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355080" y="251460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92240" y="2633472"/>
            <a:ext cx="32004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92240" y="27066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6492240" y="3017520"/>
            <a:ext cx="2057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+ rule-based scoring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form / text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[Web UI / CLI – edit]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 </a:t>
            </a:r>
            <a:r>
              <a:rPr lang="en-US" sz="8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resumes (CSV/JSON)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182880" cy="6400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— Modules 1 to 3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640080" cy="45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274320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27432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Resume Screener  |  Foundations of AI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00584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00584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371600"/>
            <a:ext cx="2606040" cy="32004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143000"/>
            <a:ext cx="411480" cy="4114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" y="11430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&amp; Parsing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1828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resume details and job criteria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24028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skills, education, CGPA, experience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text: lower-case, trim, skill aliases (py → python)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candidate and job objects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clean structured candidate data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91840" y="100584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100584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1371600"/>
            <a:ext cx="2606040" cy="32004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29000" y="1143000"/>
            <a:ext cx="411480" cy="4114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2900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950208" y="11430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CSP Constraint Engine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1828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using constraint propagation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429000" y="224028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criteria = hard constraints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search: check constraints one by one, backtrack on failure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which constraint failed and why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29000" y="397764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93008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Eligible / Rejected + reasons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80760" y="100584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0760" y="100584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1371600"/>
            <a:ext cx="2606040" cy="32004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1143000"/>
            <a:ext cx="411480" cy="4114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739128" y="11430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BFS &amp; Ranking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217920" y="1828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exploration, then score-based ranking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217920" y="224028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BFS: candidates processed level by level using a FIFO queue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Skills 50, Preferred 20, Education 15, CGPA 10, Experience 5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score; show score breakdown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17920" y="397764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81928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ranked shortlist + explanation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182880" cy="6400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242485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Screenshots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640080" cy="45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274320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27432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Resume Screener  |  Foundations of AI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7F2F3"/>
          </a:solidFill>
          <a:ln w="12700">
            <a:solidFill>
              <a:srgbClr val="A9C9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960120"/>
            <a:ext cx="4023360" cy="256032"/>
          </a:xfrm>
          <a:prstGeom prst="roundRect">
            <a:avLst>
              <a:gd name="adj" fmla="val 2857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088136"/>
            <a:ext cx="4023360" cy="128016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" y="1042416"/>
            <a:ext cx="91440" cy="914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" y="1042416"/>
            <a:ext cx="91440" cy="91440"/>
          </a:xfrm>
          <a:prstGeom prst="ellipse">
            <a:avLst/>
          </a:prstGeom>
          <a:solidFill>
            <a:srgbClr val="8FB8BF"/>
          </a:solidFill>
          <a:ln w="12700">
            <a:solidFill>
              <a:srgbClr val="8FB8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5256" y="1042416"/>
            <a:ext cx="91440" cy="91440"/>
          </a:xfrm>
          <a:prstGeom prst="ellipse">
            <a:avLst/>
          </a:prstGeom>
          <a:solidFill>
            <a:srgbClr val="8FB8BF"/>
          </a:solidFill>
          <a:ln w="12700">
            <a:solidFill>
              <a:srgbClr val="8FB8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2606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 — resume details and job criteria input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7F2F3"/>
          </a:solidFill>
          <a:ln w="12700">
            <a:solidFill>
              <a:srgbClr val="A9C9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960120"/>
            <a:ext cx="4023360" cy="256032"/>
          </a:xfrm>
          <a:prstGeom prst="roundRect">
            <a:avLst>
              <a:gd name="adj" fmla="val 2857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088136"/>
            <a:ext cx="4023360" cy="128016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1042416"/>
            <a:ext cx="91440" cy="914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19472" y="1042416"/>
            <a:ext cx="91440" cy="91440"/>
          </a:xfrm>
          <a:prstGeom prst="ellipse">
            <a:avLst/>
          </a:prstGeom>
          <a:solidFill>
            <a:srgbClr val="8FB8BF"/>
          </a:solidFill>
          <a:ln w="12700">
            <a:solidFill>
              <a:srgbClr val="8FB8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65776" y="1042416"/>
            <a:ext cx="91440" cy="91440"/>
          </a:xfrm>
          <a:prstGeom prst="ellipse">
            <a:avLst/>
          </a:prstGeom>
          <a:solidFill>
            <a:srgbClr val="8FB8BF"/>
          </a:solidFill>
          <a:ln w="12700">
            <a:solidFill>
              <a:srgbClr val="8FB8B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63440" y="1216152"/>
            <a:ext cx="40233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screenshot 2 here ]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2606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result — passed / failed constraints with reasons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7F2F3"/>
          </a:solidFill>
          <a:ln w="12700">
            <a:solidFill>
              <a:srgbClr val="A9C9C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2880360"/>
            <a:ext cx="4023360" cy="256032"/>
          </a:xfrm>
          <a:prstGeom prst="roundRect">
            <a:avLst>
              <a:gd name="adj" fmla="val 2857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008376"/>
            <a:ext cx="4023360" cy="128016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2962656"/>
            <a:ext cx="91440" cy="914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2962656"/>
            <a:ext cx="91440" cy="91440"/>
          </a:xfrm>
          <a:prstGeom prst="ellipse">
            <a:avLst/>
          </a:prstGeom>
          <a:solidFill>
            <a:srgbClr val="8FB8BF"/>
          </a:solidFill>
          <a:ln w="12700">
            <a:solidFill>
              <a:srgbClr val="8FB8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5256" y="2962656"/>
            <a:ext cx="91440" cy="91440"/>
          </a:xfrm>
          <a:prstGeom prst="ellipse">
            <a:avLst/>
          </a:prstGeom>
          <a:solidFill>
            <a:srgbClr val="8FB8BF"/>
          </a:solidFill>
          <a:ln w="12700">
            <a:solidFill>
              <a:srgbClr val="8FB8B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2920" y="3136392"/>
            <a:ext cx="40233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screenshot 3 here ]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45262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candidate list with score breakdown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7F2F3"/>
          </a:solidFill>
          <a:ln w="12700">
            <a:solidFill>
              <a:srgbClr val="A9C9C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2880360"/>
            <a:ext cx="4023360" cy="256032"/>
          </a:xfrm>
          <a:prstGeom prst="roundRect">
            <a:avLst>
              <a:gd name="adj" fmla="val 2857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008376"/>
            <a:ext cx="4023360" cy="128016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73168" y="2962656"/>
            <a:ext cx="91440" cy="914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19472" y="2962656"/>
            <a:ext cx="91440" cy="91440"/>
          </a:xfrm>
          <a:prstGeom prst="ellipse">
            <a:avLst/>
          </a:prstGeom>
          <a:solidFill>
            <a:srgbClr val="8FB8BF"/>
          </a:solidFill>
          <a:ln w="12700">
            <a:solidFill>
              <a:srgbClr val="8FB8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65776" y="2962656"/>
            <a:ext cx="91440" cy="91440"/>
          </a:xfrm>
          <a:prstGeom prst="ellipse">
            <a:avLst/>
          </a:prstGeom>
          <a:solidFill>
            <a:srgbClr val="8FB8BF"/>
          </a:solidFill>
          <a:ln w="12700">
            <a:solidFill>
              <a:srgbClr val="8FB8B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663440" y="3136392"/>
            <a:ext cx="40233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screenshot 4 here ]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663440" y="45262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candidate — failed constraint explained</a:t>
            </a:r>
            <a:endParaRPr lang="en-US" sz="850" dirty="0"/>
          </a:p>
        </p:txBody>
      </p:sp>
      <p:sp>
        <p:nvSpPr>
          <p:cNvPr id="41" name="AutoShape 2" descr="blob:https://web.whatsapp.com/94a26548-ca40-4904-8f74-8b7c33c4f3c0">
            <a:extLst>
              <a:ext uri="{FF2B5EF4-FFF2-40B4-BE49-F238E27FC236}">
                <a16:creationId xmlns:a16="http://schemas.microsoft.com/office/drawing/2014/main" id="{D31C5CCB-E71F-4DED-AF6F-F85B05E182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27932" y="230729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44D9A2B-5AD9-4E59-A6E8-5F1179D91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9" y="1216152"/>
            <a:ext cx="3720084" cy="132348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7F8C4DD-25D9-46D0-BBB5-EE01ABD16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1217676"/>
            <a:ext cx="3669792" cy="131861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EE1FA80-4195-4F54-8FB5-837E87EF47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157083"/>
            <a:ext cx="3674364" cy="125032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40DC6F17-8B16-4A5D-932A-C68102597D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3131652"/>
            <a:ext cx="3669791" cy="13374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182880" cy="6400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Enhancements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640080" cy="45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274320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27432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Resume Screener  |  Foundations of AI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0058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28016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" y="1801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types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20240" y="128016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029968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029968" y="1801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score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337560" y="128016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47288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3447288" y="1801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233172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requirements are represented as explicit constraints (CSP).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propagation and backtracking find hard-constraint failures early.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explores candidates systematically; a weighted heuristic ranks those who pass.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comes with an understandable reason.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AI only: no training data or ML/DL model needed.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92040" y="1005840"/>
            <a:ext cx="3794760" cy="3611880"/>
          </a:xfrm>
          <a:prstGeom prst="roundRect">
            <a:avLst>
              <a:gd name="adj" fmla="val 2532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20640" y="1143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1508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resume parsing</a:t>
            </a:r>
            <a:endParaRPr lang="en-US" sz="1050" dirty="0"/>
          </a:p>
          <a:p>
            <a:pPr marL="0" indent="0">
              <a:buNone/>
            </a:pPr>
            <a:r>
              <a:rPr lang="en-US" sz="850" dirty="0">
                <a:solidFill>
                  <a:srgbClr val="B8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 text extraction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623560" y="21214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rules</a:t>
            </a:r>
            <a:endParaRPr lang="en-US" sz="1050" dirty="0"/>
          </a:p>
          <a:p>
            <a:pPr marL="0" indent="0">
              <a:buNone/>
            </a:pPr>
            <a:r>
              <a:rPr lang="en-US" sz="850" dirty="0">
                <a:solidFill>
                  <a:srgbClr val="B8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recruiter-set constraints and weights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273405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audit</a:t>
            </a:r>
            <a:endParaRPr lang="en-US" sz="1050" dirty="0"/>
          </a:p>
          <a:p>
            <a:pPr marL="0" indent="0">
              <a:buNone/>
            </a:pPr>
            <a:r>
              <a:rPr lang="en-US" sz="850" dirty="0">
                <a:solidFill>
                  <a:srgbClr val="B8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screening and audit reports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12064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623560" y="334670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  <a:p>
            <a:pPr marL="0" indent="0">
              <a:buNone/>
            </a:pPr>
            <a:r>
              <a:rPr lang="en-US" sz="850" dirty="0">
                <a:solidFill>
                  <a:srgbClr val="B8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consented, diverse sample resumes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623560" y="395935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logs</a:t>
            </a:r>
            <a:endParaRPr lang="en-US" sz="1050" dirty="0"/>
          </a:p>
          <a:p>
            <a:pPr marL="0" indent="0">
              <a:buNone/>
            </a:pPr>
            <a:r>
              <a:rPr lang="en-US" sz="850" dirty="0">
                <a:solidFill>
                  <a:srgbClr val="B8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feedback, audit trail, data protection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182880" cy="6400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640080" cy="45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274320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E7F2F3"/>
          </a:solidFill>
          <a:ln w="12700">
            <a:solidFill>
              <a:srgbClr val="E7F2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27432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Resume Screener  |  Foundations of AI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005840"/>
            <a:ext cx="81838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</a:t>
            </a: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Wilson and A. Caliskan, “Gender, Race, and Intersectional Bias in Resume Screening via Language Model Retrieval,” Proc. AAAI/ACM Conf. on AI, Ethics, and Society, vol. 7, no. 1, pp. 1578–1590, 2024, doi: 10.1609/aies.v7i1.31748.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</a:t>
            </a: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Ochmann et al., “Perceived algorithmic fairness: An empirical study of transparency and anthropomorphism in algorithmic recruiting,” Information Systems Journal, vol. 34, no. 2, pp. 384–414, 2024, doi: 10.1111/isj.12482.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</a:t>
            </a: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“Fairness, AI &amp; recruitment,” Computer Law &amp; Security Review, vol. 53, 105966, 2024, doi: 10.1016/j.clsr.2024.105966.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</a:t>
            </a: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An et al., “Measuring gender and racial biases in large language models: Intersectional evidence from automated resume evaluation,” PNAS Nexus, vol. 4, no. 3, pgaf089, 2025, doi: 10.1093/pnasnexus/pgaf089.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</a:t>
            </a: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Chen, F. Han, X. Zhang and Y. Lu, “Cracking the AI recruitment code: Striving for transparency in finding the right person–job fit,” Information &amp; Management, vol. 62, no. 5, 104156, 2025, doi: 10.1016/j.im.2025.104156.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</a:t>
            </a: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Shah, M. Rana and T. Pimple, “Fair and Transparent AI-Driven Resume Screening: Enhancing Recruitment with Bias-Aware Machine Learning,” South Eastern European Journal of Public Health, 2025, doi: 10.70135/seejph.vi.4674.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</a:t>
            </a:r>
            <a:r>
              <a:rPr lang="en-US" sz="9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Russell and P. Norvig, Artificial Intelligence: A Modern Approach, 4th ed. Pearson, 2020.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114800" cy="4114800"/>
          </a:xfrm>
          <a:prstGeom prst="ellipse">
            <a:avLst/>
          </a:prstGeom>
          <a:solidFill>
            <a:srgbClr val="1B6F7C"/>
          </a:solidFill>
          <a:ln w="12700">
            <a:solidFill>
              <a:srgbClr val="1B6F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3291840"/>
            <a:ext cx="2377440" cy="23774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920240"/>
            <a:ext cx="82296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03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1956</Words>
  <Application>Microsoft Office PowerPoint</Application>
  <PresentationFormat>On-screen Show (16:9)</PresentationFormat>
  <Paragraphs>227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Resume Screener</dc:title>
  <dc:subject>PptxGenJS Presentation</dc:subject>
  <dc:creator>PptxGenJS</dc:creator>
  <cp:lastModifiedBy>nethracg07@gmail.com</cp:lastModifiedBy>
  <cp:revision>4</cp:revision>
  <dcterms:created xsi:type="dcterms:W3CDTF">2026-10-19T05:38:09Z</dcterms:created>
  <dcterms:modified xsi:type="dcterms:W3CDTF">2026-10-19T09:47:00Z</dcterms:modified>
</cp:coreProperties>
</file>